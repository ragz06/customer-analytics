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ragaavidurairaj@gmail.com" TargetMode="External"/><Relationship Id="rId3" Type="http://schemas.openxmlformats.org/officeDocument/2006/relationships/hyperlink" Target="https://www.linkedin.com/in/ragaavi-d-042b07174/" TargetMode="External"/><Relationship Id="rId4" Type="http://schemas.openxmlformats.org/officeDocument/2006/relationships/hyperlink" Target="https://public.tableau.com/app/profile/ragaavi.d/vizzes" TargetMode="External"/><Relationship Id="rId5" Type="http://schemas.openxmlformats.org/officeDocument/2006/relationships/hyperlink" Target="https://medium.com/@ragaavidurairaj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Customer Executive Analytics</a:t>
            </a:r>
          </a:p>
        </p:txBody>
      </p:sp>
      <p:sp>
        <p:nvSpPr>
          <p:cNvPr id="95" name="slide1"/>
          <p:cNvSpPr txBox="1"/>
          <p:nvPr>
            <p:ph type="subTitle" sz="quarter" idx="1"/>
          </p:nvPr>
        </p:nvSpPr>
        <p:spPr>
          <a:xfrm>
            <a:off x="7795915" y="3602037"/>
            <a:ext cx="2872085" cy="1655762"/>
          </a:xfrm>
          <a:prstGeom prst="rect">
            <a:avLst/>
          </a:prstGeom>
        </p:spPr>
        <p:txBody>
          <a:bodyPr/>
          <a:lstStyle/>
          <a:p>
            <a:pPr marL="217170" indent="-217170" algn="l" defTabSz="868680">
              <a:lnSpc>
                <a:spcPct val="150000"/>
              </a:lnSpc>
              <a:spcBef>
                <a:spcPts val="900"/>
              </a:spcBef>
              <a:buSzPct val="100000"/>
              <a:buChar char="•"/>
              <a:defRPr sz="228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Marketing View</a:t>
            </a:r>
          </a:p>
          <a:p>
            <a:pPr marL="217170" indent="-217170" algn="l" defTabSz="868680">
              <a:lnSpc>
                <a:spcPct val="150000"/>
              </a:lnSpc>
              <a:spcBef>
                <a:spcPts val="900"/>
              </a:spcBef>
              <a:buSzPct val="100000"/>
              <a:buChar char="•"/>
              <a:defRPr sz="228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Product Usage</a:t>
            </a:r>
          </a:p>
          <a:p>
            <a:pPr marL="217170" indent="-217170" algn="l" defTabSz="868680">
              <a:lnSpc>
                <a:spcPct val="150000"/>
              </a:lnSpc>
              <a:spcBef>
                <a:spcPts val="900"/>
              </a:spcBef>
              <a:buSzPct val="100000"/>
              <a:buChar char="•"/>
              <a:defRPr sz="228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Customer Analysis</a:t>
            </a:r>
          </a:p>
        </p:txBody>
      </p:sp>
      <p:sp>
        <p:nvSpPr>
          <p:cNvPr id="96" name="slide1"/>
          <p:cNvSpPr txBox="1"/>
          <p:nvPr/>
        </p:nvSpPr>
        <p:spPr>
          <a:xfrm>
            <a:off x="-24475" y="6523769"/>
            <a:ext cx="12192001" cy="306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>
            <a:lvl1pPr algn="ctr">
              <a:lnSpc>
                <a:spcPct val="90000"/>
              </a:lnSpc>
              <a:defRPr b="1"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Ragaavi D</a:t>
            </a:r>
          </a:p>
        </p:txBody>
      </p:sp>
      <p:sp>
        <p:nvSpPr>
          <p:cNvPr id="97" name="💁🏽♀️.   Mail | LinkedIn | Tableau | Medium"/>
          <p:cNvSpPr txBox="1"/>
          <p:nvPr/>
        </p:nvSpPr>
        <p:spPr>
          <a:xfrm>
            <a:off x="9781732" y="6557842"/>
            <a:ext cx="2755754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996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💁🏽‍♀️.  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Mail</a:t>
            </a:r>
            <a:r>
              <a:t> |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LinkedIn</a:t>
            </a:r>
            <a:r>
              <a:t> </a:t>
            </a:r>
            <a:r>
              <a:rPr>
                <a:solidFill>
                  <a:srgbClr val="6A519A"/>
                </a:solidFill>
              </a:rPr>
              <a:t>|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4" invalidUrl="" action="" tgtFrame="" tooltip="" history="1" highlightClick="0" endSnd="0"/>
              </a:rPr>
              <a:t>Tableau</a:t>
            </a:r>
            <a:r>
              <a:rPr b="0" sz="1104"/>
              <a:t> </a:t>
            </a:r>
            <a:r>
              <a:rPr>
                <a:solidFill>
                  <a:srgbClr val="6A519A"/>
                </a:solidFill>
              </a:rPr>
              <a:t>|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5" invalidUrl="" action="" tgtFrame="" tooltip="" history="1" highlightClick="0" endSnd="0"/>
              </a:rPr>
              <a:t>Medium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slide2" descr="slide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1199" y="0"/>
            <a:ext cx="82296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1"/>
          <p:cNvSpPr txBox="1"/>
          <p:nvPr/>
        </p:nvSpPr>
        <p:spPr>
          <a:xfrm>
            <a:off x="1603716" y="534294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1" name="Line"/>
          <p:cNvSpPr/>
          <p:nvPr/>
        </p:nvSpPr>
        <p:spPr>
          <a:xfrm flipH="1">
            <a:off x="1799901" y="657036"/>
            <a:ext cx="181383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Line"/>
          <p:cNvSpPr/>
          <p:nvPr/>
        </p:nvSpPr>
        <p:spPr>
          <a:xfrm flipH="1">
            <a:off x="1812601" y="3131809"/>
            <a:ext cx="181383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2"/>
          <p:cNvSpPr txBox="1"/>
          <p:nvPr/>
        </p:nvSpPr>
        <p:spPr>
          <a:xfrm>
            <a:off x="1603716" y="3007656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4" name="Line"/>
          <p:cNvSpPr/>
          <p:nvPr/>
        </p:nvSpPr>
        <p:spPr>
          <a:xfrm>
            <a:off x="10183997" y="2475942"/>
            <a:ext cx="40545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3"/>
          <p:cNvSpPr txBox="1"/>
          <p:nvPr/>
        </p:nvSpPr>
        <p:spPr>
          <a:xfrm>
            <a:off x="10694717" y="2351789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6" name="Line"/>
          <p:cNvSpPr/>
          <p:nvPr/>
        </p:nvSpPr>
        <p:spPr>
          <a:xfrm>
            <a:off x="10172844" y="5964664"/>
            <a:ext cx="40545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4"/>
          <p:cNvSpPr txBox="1"/>
          <p:nvPr/>
        </p:nvSpPr>
        <p:spPr>
          <a:xfrm>
            <a:off x="10683564" y="5840512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MARKET ANALYTICS…"/>
          <p:cNvSpPr txBox="1"/>
          <p:nvPr>
            <p:ph type="body" idx="1"/>
          </p:nvPr>
        </p:nvSpPr>
        <p:spPr>
          <a:xfrm>
            <a:off x="838200" y="272483"/>
            <a:ext cx="10515600" cy="5904480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FontTx/>
              <a:buNone/>
              <a:defRPr b="1" sz="18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MARKET ANALYTICS</a:t>
            </a:r>
          </a:p>
          <a:p>
            <a:pPr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FILTERS: Acquisition Date(Start Date) , Plan </a:t>
            </a:r>
          </a:p>
          <a:p>
            <a:pPr marL="187157" indent="-187157">
              <a:buFontTx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KPI Cards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Total Customers: Count of Customers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Active Customers: Status = Active Customers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New Customers: Customers subscribed in current Quarter of Latest Acquisition Date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Average Tenure: Average Months for a customer to subscribe a plan and be in our system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Stability Rate: Overall Retention Rate</a:t>
            </a:r>
          </a:p>
          <a:p>
            <a:pPr marL="187157" indent="-187157">
              <a:buFontTx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Comparison Charts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ROI: ROI percentage, ROI  for Market Campaign Converted or Not split, ROI across period, Top 3 Campaigns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Campaign Cost: CC, CC for Converted or Not split, CC across period, Top 3 Campaigns</a:t>
            </a:r>
          </a:p>
          <a:p>
            <a:pPr marL="187157" indent="-187157">
              <a:buFontTx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Campaign Funnel Chart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Sales Activities from Opened till Registered, Revenue generated at each stage</a:t>
            </a:r>
          </a:p>
          <a:p>
            <a:pPr marL="187157" indent="-187157">
              <a:buFontTx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Channel Distribution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Revenue and CC from different Channels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slide2" descr="slide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1199" y="0"/>
            <a:ext cx="82296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1"/>
          <p:cNvSpPr txBox="1"/>
          <p:nvPr/>
        </p:nvSpPr>
        <p:spPr>
          <a:xfrm>
            <a:off x="1603716" y="534294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3" name="Line"/>
          <p:cNvSpPr/>
          <p:nvPr/>
        </p:nvSpPr>
        <p:spPr>
          <a:xfrm flipH="1">
            <a:off x="1799901" y="657036"/>
            <a:ext cx="181383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2"/>
          <p:cNvSpPr txBox="1"/>
          <p:nvPr/>
        </p:nvSpPr>
        <p:spPr>
          <a:xfrm>
            <a:off x="1612909" y="1988354"/>
            <a:ext cx="1813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5" name="Line"/>
          <p:cNvSpPr/>
          <p:nvPr/>
        </p:nvSpPr>
        <p:spPr>
          <a:xfrm flipH="1">
            <a:off x="1809093" y="2111096"/>
            <a:ext cx="181383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3"/>
          <p:cNvSpPr txBox="1"/>
          <p:nvPr/>
        </p:nvSpPr>
        <p:spPr>
          <a:xfrm>
            <a:off x="10685314" y="2064798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7" name="Line"/>
          <p:cNvSpPr/>
          <p:nvPr/>
        </p:nvSpPr>
        <p:spPr>
          <a:xfrm>
            <a:off x="10153373" y="2188951"/>
            <a:ext cx="49633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4"/>
          <p:cNvSpPr txBox="1"/>
          <p:nvPr/>
        </p:nvSpPr>
        <p:spPr>
          <a:xfrm>
            <a:off x="1601756" y="4878414"/>
            <a:ext cx="1813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9" name="Line"/>
          <p:cNvSpPr/>
          <p:nvPr/>
        </p:nvSpPr>
        <p:spPr>
          <a:xfrm flipH="1">
            <a:off x="1797940" y="5001155"/>
            <a:ext cx="181383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USAGE ANALYTICS…"/>
          <p:cNvSpPr txBox="1"/>
          <p:nvPr>
            <p:ph type="body" idx="1"/>
          </p:nvPr>
        </p:nvSpPr>
        <p:spPr>
          <a:xfrm>
            <a:off x="838200" y="272483"/>
            <a:ext cx="10515600" cy="5904480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FontTx/>
              <a:buNone/>
              <a:defRPr b="1" sz="18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USAGE ANALYTICS</a:t>
            </a:r>
          </a:p>
          <a:p>
            <a:pPr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FILTERS: Acquisition Date(Start Date) , Plan </a:t>
            </a:r>
          </a:p>
          <a:p>
            <a:pPr marL="187157" indent="-187157">
              <a:buFontTx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KPI Cards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Total Customers: Count of Customers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Active Customers: Status = Active Customers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New Customers: Customers subscribed in current Quarter of Latest Acquisition Date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Average Tenure: Average Months for a customer to subscribe a plan and be in our system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Stability Rate: Overall Retention Rate</a:t>
            </a:r>
          </a:p>
          <a:p>
            <a:pPr marL="187157" indent="-187157">
              <a:buFontTx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Feature and Active Usage: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Quarterly distribution on active customers across each feature</a:t>
            </a:r>
          </a:p>
          <a:p>
            <a:pPr marL="187157" indent="-187157">
              <a:buFontTx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Feature Request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Based on Usage Frequency for each feature we can decide which request the product team team developing</a:t>
            </a:r>
          </a:p>
          <a:p>
            <a:pPr marL="187157" indent="-187157">
              <a:buFontTx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Sales Activity</a:t>
            </a:r>
          </a:p>
          <a:p>
            <a:pPr lvl="1" marL="736600" indent="-228600">
              <a:buFontTx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Answers which Sales activity results  in faster deal closure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slide2" descr="slide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56856" y="0"/>
            <a:ext cx="5878288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1"/>
          <p:cNvSpPr txBox="1"/>
          <p:nvPr/>
        </p:nvSpPr>
        <p:spPr>
          <a:xfrm>
            <a:off x="2775696" y="756490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5" name="Line"/>
          <p:cNvSpPr/>
          <p:nvPr/>
        </p:nvSpPr>
        <p:spPr>
          <a:xfrm flipH="1">
            <a:off x="2971881" y="879232"/>
            <a:ext cx="18138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2"/>
          <p:cNvSpPr txBox="1"/>
          <p:nvPr/>
        </p:nvSpPr>
        <p:spPr>
          <a:xfrm>
            <a:off x="2776883" y="1896253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7" name="Line"/>
          <p:cNvSpPr/>
          <p:nvPr/>
        </p:nvSpPr>
        <p:spPr>
          <a:xfrm flipH="1">
            <a:off x="2973068" y="2018994"/>
            <a:ext cx="181383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4"/>
          <p:cNvSpPr txBox="1"/>
          <p:nvPr/>
        </p:nvSpPr>
        <p:spPr>
          <a:xfrm>
            <a:off x="2778071" y="3120656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9" name="Line"/>
          <p:cNvSpPr/>
          <p:nvPr/>
        </p:nvSpPr>
        <p:spPr>
          <a:xfrm flipH="1">
            <a:off x="2974255" y="3243397"/>
            <a:ext cx="181383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6"/>
          <p:cNvSpPr txBox="1"/>
          <p:nvPr/>
        </p:nvSpPr>
        <p:spPr>
          <a:xfrm>
            <a:off x="2759488" y="4732801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31" name="Line"/>
          <p:cNvSpPr/>
          <p:nvPr/>
        </p:nvSpPr>
        <p:spPr>
          <a:xfrm flipH="1">
            <a:off x="2955673" y="4855542"/>
            <a:ext cx="181383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1"/>
          <p:cNvSpPr txBox="1"/>
          <p:nvPr/>
        </p:nvSpPr>
        <p:spPr>
          <a:xfrm>
            <a:off x="2755981" y="6091664"/>
            <a:ext cx="1813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3" name="Line"/>
          <p:cNvSpPr/>
          <p:nvPr/>
        </p:nvSpPr>
        <p:spPr>
          <a:xfrm flipH="1">
            <a:off x="2952165" y="6214406"/>
            <a:ext cx="181383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3"/>
          <p:cNvSpPr txBox="1"/>
          <p:nvPr/>
        </p:nvSpPr>
        <p:spPr>
          <a:xfrm>
            <a:off x="9586886" y="1776980"/>
            <a:ext cx="1813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5" name="Line"/>
          <p:cNvSpPr/>
          <p:nvPr/>
        </p:nvSpPr>
        <p:spPr>
          <a:xfrm>
            <a:off x="9054944" y="1901132"/>
            <a:ext cx="49633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5"/>
          <p:cNvSpPr txBox="1"/>
          <p:nvPr/>
        </p:nvSpPr>
        <p:spPr>
          <a:xfrm>
            <a:off x="9579991" y="3120656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7" name="Line"/>
          <p:cNvSpPr/>
          <p:nvPr/>
        </p:nvSpPr>
        <p:spPr>
          <a:xfrm>
            <a:off x="9048050" y="3244808"/>
            <a:ext cx="49633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7"/>
          <p:cNvSpPr txBox="1"/>
          <p:nvPr/>
        </p:nvSpPr>
        <p:spPr>
          <a:xfrm>
            <a:off x="9592691" y="4436084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FF2600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39" name="Line"/>
          <p:cNvSpPr/>
          <p:nvPr/>
        </p:nvSpPr>
        <p:spPr>
          <a:xfrm>
            <a:off x="9048050" y="4560237"/>
            <a:ext cx="49633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CUSTOMER ANALYTICS…"/>
          <p:cNvSpPr txBox="1"/>
          <p:nvPr>
            <p:ph type="body" idx="1"/>
          </p:nvPr>
        </p:nvSpPr>
        <p:spPr>
          <a:xfrm>
            <a:off x="838200" y="285183"/>
            <a:ext cx="10515600" cy="5904480"/>
          </a:xfrm>
          <a:prstGeom prst="rect">
            <a:avLst/>
          </a:prstGeom>
        </p:spPr>
        <p:txBody>
          <a:bodyPr/>
          <a:lstStyle/>
          <a:p>
            <a:pPr marL="0" indent="0" algn="ctr" defTabSz="768095">
              <a:spcBef>
                <a:spcPts val="800"/>
              </a:spcBef>
              <a:buSzTx/>
              <a:buFontTx/>
              <a:buNone/>
              <a:defRPr b="1" sz="1512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CUSTOMER ANALYTICS</a:t>
            </a:r>
          </a:p>
          <a:p>
            <a:pPr marL="192023" indent="-192023" defTabSz="768095">
              <a:spcBef>
                <a:spcPts val="800"/>
              </a:spcBef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FILTERS: Acquisition Date(Start Date) , Plan, Customer id </a:t>
            </a:r>
          </a:p>
          <a:p>
            <a:pPr marL="157212" indent="-157212" defTabSz="768095">
              <a:spcBef>
                <a:spcPts val="800"/>
              </a:spcBef>
              <a:buFontTx/>
              <a:buAutoNum type="arabicPeriod" startAt="1"/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Donut Charts</a:t>
            </a:r>
          </a:p>
          <a:p>
            <a:pPr lvl="1" marL="618743" indent="-192023" defTabSz="768095">
              <a:spcBef>
                <a:spcPts val="800"/>
              </a:spcBef>
              <a:buFontTx/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Based on Plan selected distribution of customers are showing on following KPIs: Subscription Bucket; ROI Bucket; Login Freq; Campaign exposed;  upgrade; downgrade; Health Score</a:t>
            </a:r>
          </a:p>
          <a:p>
            <a:pPr lvl="1" marL="618743" indent="-192023" defTabSz="768095">
              <a:spcBef>
                <a:spcPts val="800"/>
              </a:spcBef>
              <a:buFontTx/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192023" indent="-192023" defTabSz="768095">
              <a:spcBef>
                <a:spcPts val="800"/>
              </a:spcBef>
              <a:buFontTx/>
              <a:buAutoNum type="arabicPeriod" startAt="1"/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Conversion Segment by Sales:</a:t>
            </a:r>
          </a:p>
          <a:p>
            <a:pPr lvl="2" marL="576071" indent="-192023">
              <a:lnSpc>
                <a:spcPct val="100000"/>
              </a:lnSpc>
              <a:spcBef>
                <a:spcPts val="0"/>
              </a:spcBef>
              <a:buFontTx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Sales Activities bin for Customer distribution</a:t>
            </a:r>
          </a:p>
          <a:p>
            <a:pPr marL="192024" indent="-192024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192024" indent="-192024">
              <a:lnSpc>
                <a:spcPct val="100000"/>
              </a:lnSpc>
              <a:spcBef>
                <a:spcPts val="0"/>
              </a:spcBef>
              <a:buFontTx/>
              <a:buAutoNum type="arabicPeriod" startAt="2"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192024" indent="-192024">
              <a:lnSpc>
                <a:spcPct val="100000"/>
              </a:lnSpc>
              <a:spcBef>
                <a:spcPts val="0"/>
              </a:spcBef>
              <a:buFontTx/>
              <a:buAutoNum type="arabicPeriod" startAt="3"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Trend Over Time - Cumulative Acquisitions:</a:t>
            </a:r>
          </a:p>
          <a:p>
            <a:pPr lvl="2" marL="576071" indent="-192023">
              <a:lnSpc>
                <a:spcPct val="100000"/>
              </a:lnSpc>
              <a:spcBef>
                <a:spcPts val="0"/>
              </a:spcBef>
              <a:buFontTx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the Lead Month how many customers acquired</a:t>
            </a:r>
          </a:p>
          <a:p>
            <a:pPr lvl="2" marL="576071" indent="-192023">
              <a:lnSpc>
                <a:spcPct val="100000"/>
              </a:lnSpc>
              <a:spcBef>
                <a:spcPts val="0"/>
              </a:spcBef>
              <a:buFontTx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192024" indent="-192024">
              <a:lnSpc>
                <a:spcPct val="100000"/>
              </a:lnSpc>
              <a:spcBef>
                <a:spcPts val="0"/>
              </a:spcBef>
              <a:buFontTx/>
              <a:buAutoNum type="arabicPeriod" startAt="3"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Monitor Customer Churn</a:t>
            </a:r>
          </a:p>
          <a:p>
            <a:pPr lvl="2" marL="576071" indent="-192023">
              <a:lnSpc>
                <a:spcPct val="100000"/>
              </a:lnSpc>
              <a:spcBef>
                <a:spcPts val="0"/>
              </a:spcBef>
              <a:buFontTx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Correlation between Campaign exposed and Subscription made. Even Though Subscription count is higher, customer churns if there is less marketing campaign activity</a:t>
            </a:r>
          </a:p>
          <a:p>
            <a:pPr lvl="2" marL="576071" indent="-192023">
              <a:lnSpc>
                <a:spcPct val="100000"/>
              </a:lnSpc>
              <a:spcBef>
                <a:spcPts val="0"/>
              </a:spcBef>
              <a:buFontTx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192024" indent="-192024">
              <a:lnSpc>
                <a:spcPct val="100000"/>
              </a:lnSpc>
              <a:spcBef>
                <a:spcPts val="0"/>
              </a:spcBef>
              <a:buFontTx/>
              <a:buAutoNum type="arabicPeriod" startAt="3"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Healthy Customer Activity</a:t>
            </a:r>
          </a:p>
          <a:p>
            <a:pPr lvl="2" marL="576071" indent="-192023">
              <a:lnSpc>
                <a:spcPct val="100000"/>
              </a:lnSpc>
              <a:spcBef>
                <a:spcPts val="0"/>
              </a:spcBef>
              <a:buFontTx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Correlation between Campaign exposed and Subscription made. More campaigns Exposed, more subscription made.</a:t>
            </a:r>
          </a:p>
          <a:p>
            <a:pPr lvl="2" marL="576071" indent="-192023">
              <a:lnSpc>
                <a:spcPct val="100000"/>
              </a:lnSpc>
              <a:spcBef>
                <a:spcPts val="0"/>
              </a:spcBef>
              <a:buFontTx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192024" indent="-192024">
              <a:lnSpc>
                <a:spcPct val="100000"/>
              </a:lnSpc>
              <a:spcBef>
                <a:spcPts val="0"/>
              </a:spcBef>
              <a:buFontTx/>
              <a:buAutoNum type="arabicPeriod" startAt="3"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Customer Portfolio</a:t>
            </a:r>
          </a:p>
          <a:p>
            <a:pPr lvl="2" marL="576071" indent="-192023">
              <a:lnSpc>
                <a:spcPct val="100000"/>
              </a:lnSpc>
              <a:spcBef>
                <a:spcPts val="0"/>
              </a:spcBef>
              <a:buFontTx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Acquired Date, How many subscription made, if upgraded, ROI and Health score are listed</a:t>
            </a:r>
          </a:p>
          <a:p>
            <a:pPr lvl="2" marL="576071" indent="-192023">
              <a:lnSpc>
                <a:spcPct val="100000"/>
              </a:lnSpc>
              <a:spcBef>
                <a:spcPts val="0"/>
              </a:spcBef>
              <a:buFontTx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192024" indent="-192024">
              <a:lnSpc>
                <a:spcPct val="100000"/>
              </a:lnSpc>
              <a:spcBef>
                <a:spcPts val="0"/>
              </a:spcBef>
              <a:buFontTx/>
              <a:buAutoNum type="arabicPeriod" startAt="3"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Renewal rate on support tickets</a:t>
            </a:r>
          </a:p>
          <a:p>
            <a:pPr lvl="2" marL="576071" indent="-192023">
              <a:lnSpc>
                <a:spcPct val="100000"/>
              </a:lnSpc>
              <a:spcBef>
                <a:spcPts val="0"/>
              </a:spcBef>
              <a:buFontTx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Ticket Bins for Renewal Rate across Customers</a:t>
            </a:r>
          </a:p>
          <a:p>
            <a:pPr lvl="2" marL="576071" indent="-192023">
              <a:lnSpc>
                <a:spcPct val="100000"/>
              </a:lnSpc>
              <a:spcBef>
                <a:spcPts val="0"/>
              </a:spcBef>
              <a:buFontTx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192024" indent="-192024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FontTx/>
              <a:buAutoNum type="arabicPeriod" startAt="3"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17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Base Table</a:t>
            </a:r>
          </a:p>
          <a:p>
            <a:pPr marL="192023" indent="-192023">
              <a:lnSpc>
                <a:spcPct val="100000"/>
              </a:lnSpc>
              <a:spcBef>
                <a:spcPts val="0"/>
              </a:spcBef>
              <a:buFontTx/>
              <a:buAutoNum type="arabicPeriod" startAt="3"/>
              <a:tabLst>
                <a:tab pos="292100" algn="l"/>
                <a:tab pos="596900" algn="l"/>
                <a:tab pos="889000" algn="l"/>
                <a:tab pos="1193800" algn="l"/>
                <a:tab pos="1485900" algn="l"/>
                <a:tab pos="1790700" algn="l"/>
                <a:tab pos="2082800" algn="l"/>
                <a:tab pos="2387600" algn="l"/>
                <a:tab pos="2679700" algn="l"/>
                <a:tab pos="2984500" algn="l"/>
                <a:tab pos="3276600" algn="l"/>
                <a:tab pos="3581400" algn="l"/>
              </a:tabLst>
              <a:defRPr sz="1008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